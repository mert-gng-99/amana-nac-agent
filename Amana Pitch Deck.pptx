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bbbe006b374a1a" /><Relationship Type="http://schemas.openxmlformats.org/officeDocument/2006/relationships/extended-properties" Target="/docProps/app.xml" Id="R0cb3d0eb43a74c53" /><Relationship Type="http://schemas.openxmlformats.org/officeDocument/2006/relationships/officeDocument" Target="/ppt/presentation.xml" Id="Rc7497487ab2643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142343b4b2412b"/>
  </p:sldMasterIdLst>
  <p:notesMasterIdLst>
    <p:notesMasterId xmlns:r="http://schemas.openxmlformats.org/officeDocument/2006/relationships" r:id="Re493d2339d0049b4"/>
  </p:notesMasterIdLst>
  <p:sldIdLst>
    <p:sldId xmlns:r="http://schemas.openxmlformats.org/officeDocument/2006/relationships" id="256" r:id="R7c9a4c214c3a4b0c"/>
    <p:sldId xmlns:r="http://schemas.openxmlformats.org/officeDocument/2006/relationships" id="257" r:id="R88c7261f2a47481f"/>
    <p:sldId xmlns:r="http://schemas.openxmlformats.org/officeDocument/2006/relationships" id="258" r:id="Rf400f9466645453f"/>
    <p:sldId xmlns:r="http://schemas.openxmlformats.org/officeDocument/2006/relationships" id="259" r:id="R74396891b11f4c10"/>
    <p:sldId xmlns:r="http://schemas.openxmlformats.org/officeDocument/2006/relationships" id="260" r:id="R264f3273b3c944ef"/>
    <p:sldId xmlns:r="http://schemas.openxmlformats.org/officeDocument/2006/relationships" id="261" r:id="R193d95034658448d"/>
    <p:sldId xmlns:r="http://schemas.openxmlformats.org/officeDocument/2006/relationships" id="262" r:id="Recf4fcd62ce5467e"/>
    <p:sldId xmlns:r="http://schemas.openxmlformats.org/officeDocument/2006/relationships" id="263" r:id="Rab6c1de9f9d44b67"/>
    <p:sldId xmlns:r="http://schemas.openxmlformats.org/officeDocument/2006/relationships" id="264" r:id="R7e656e0c20c84f7a"/>
    <p:sldId xmlns:r="http://schemas.openxmlformats.org/officeDocument/2006/relationships" id="265" r:id="R65719b1e52fd44f3"/>
    <p:sldId xmlns:r="http://schemas.openxmlformats.org/officeDocument/2006/relationships" id="266" r:id="Rc92d19ec355d4300"/>
    <p:sldId xmlns:r="http://schemas.openxmlformats.org/officeDocument/2006/relationships" id="267" r:id="Re4cf6c2bacb04c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dbf94d60cc4e15" /><Relationship Type="http://schemas.openxmlformats.org/officeDocument/2006/relationships/slideMaster" Target="/ppt/slideMasters/slideMaster1.xml" Id="R1f142343b4b2412b" /><Relationship Type="http://schemas.openxmlformats.org/officeDocument/2006/relationships/notesMaster" Target="/ppt/notesMasters/notesMaster1.xml" Id="Re493d2339d0049b4" /><Relationship Type="http://schemas.openxmlformats.org/officeDocument/2006/relationships/presProps" Target="/ppt/presProps.xml" Id="Rddeb86b2821c4ddd" /><Relationship Type="http://schemas.openxmlformats.org/officeDocument/2006/relationships/tableStyles" Target="/ppt/tableStyles.xml" Id="R643c29258f0b43e6" /><Relationship Type="http://schemas.openxmlformats.org/officeDocument/2006/relationships/slide" Target="/ppt/slides/slide1.xml" Id="R7c9a4c214c3a4b0c" /><Relationship Type="http://schemas.openxmlformats.org/officeDocument/2006/relationships/slide" Target="/ppt/slides/slide2.xml" Id="R88c7261f2a47481f" /><Relationship Type="http://schemas.openxmlformats.org/officeDocument/2006/relationships/slide" Target="/ppt/slides/slide3.xml" Id="Rf400f9466645453f" /><Relationship Type="http://schemas.openxmlformats.org/officeDocument/2006/relationships/slide" Target="/ppt/slides/slide4.xml" Id="R74396891b11f4c10" /><Relationship Type="http://schemas.openxmlformats.org/officeDocument/2006/relationships/slide" Target="/ppt/slides/slide5.xml" Id="R264f3273b3c944ef" /><Relationship Type="http://schemas.openxmlformats.org/officeDocument/2006/relationships/slide" Target="/ppt/slides/slide6.xml" Id="R193d95034658448d" /><Relationship Type="http://schemas.openxmlformats.org/officeDocument/2006/relationships/slide" Target="/ppt/slides/slide7.xml" Id="Recf4fcd62ce5467e" /><Relationship Type="http://schemas.openxmlformats.org/officeDocument/2006/relationships/slide" Target="/ppt/slides/slide8.xml" Id="Rab6c1de9f9d44b67" /><Relationship Type="http://schemas.openxmlformats.org/officeDocument/2006/relationships/slide" Target="/ppt/slides/slide9.xml" Id="R7e656e0c20c84f7a" /><Relationship Type="http://schemas.openxmlformats.org/officeDocument/2006/relationships/slide" Target="/ppt/slides/slide10.xml" Id="R65719b1e52fd44f3" /><Relationship Type="http://schemas.openxmlformats.org/officeDocument/2006/relationships/slide" Target="/ppt/slides/slide11.xml" Id="Rc92d19ec355d4300" /><Relationship Type="http://schemas.openxmlformats.org/officeDocument/2006/relationships/slide" Target="/ppt/slides/slide12.xml" Id="Re4cf6c2bacb04c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c2820b712941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3b72a2f19c4d3d" /><Relationship Type="http://schemas.openxmlformats.org/officeDocument/2006/relationships/notesMaster" Target="/ppt/notesMasters/notesMaster1.xml" Id="R137d305b4a9d48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bb9a77c9b4d6e" /><Relationship Type="http://schemas.openxmlformats.org/officeDocument/2006/relationships/notesMaster" Target="/ppt/notesMasters/notesMaster1.xml" Id="Rb0f8bc82dabd46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4f84927c7b4481" /><Relationship Type="http://schemas.openxmlformats.org/officeDocument/2006/relationships/notesMaster" Target="/ppt/notesMasters/notesMaster1.xml" Id="R6783b0858add46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df01fea9874d65" /><Relationship Type="http://schemas.openxmlformats.org/officeDocument/2006/relationships/notesMaster" Target="/ppt/notesMasters/notesMaster1.xml" Id="Ra9fea28e5fd74d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561e4fa7174142" /><Relationship Type="http://schemas.openxmlformats.org/officeDocument/2006/relationships/notesMaster" Target="/ppt/notesMasters/notesMaster1.xml" Id="Rcab65f72569547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a79bc10bcb40d8" /><Relationship Type="http://schemas.openxmlformats.org/officeDocument/2006/relationships/notesMaster" Target="/ppt/notesMasters/notesMaster1.xml" Id="R5b435536ad2044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772eb76c47482b" /><Relationship Type="http://schemas.openxmlformats.org/officeDocument/2006/relationships/notesMaster" Target="/ppt/notesMasters/notesMaster1.xml" Id="R7829bdd5a9fe4e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559e2b355b4436" /><Relationship Type="http://schemas.openxmlformats.org/officeDocument/2006/relationships/notesMaster" Target="/ppt/notesMasters/notesMaster1.xml" Id="R1c866872e25148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ed9b71ec9a40bd" /><Relationship Type="http://schemas.openxmlformats.org/officeDocument/2006/relationships/notesMaster" Target="/ppt/notesMasters/notesMaster1.xml" Id="R6fd6ec70d2c640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1869d84fb04cfc" /><Relationship Type="http://schemas.openxmlformats.org/officeDocument/2006/relationships/notesMaster" Target="/ppt/notesMasters/notesMaster1.xml" Id="R8d36264127c04d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2315778cc34b0f" /><Relationship Type="http://schemas.openxmlformats.org/officeDocument/2006/relationships/notesMaster" Target="/ppt/notesMasters/notesMaster1.xml" Id="R14a27c315f464b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a1893c43e84e0e" /><Relationship Type="http://schemas.openxmlformats.org/officeDocument/2006/relationships/notesMaster" Target="/ppt/notesMasters/notesMaster1.xml" Id="R07872da3b53447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Amana means trust and safekeeping. Lead with the false decline problem, not with SIM swap.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framing that separates us. The enemy is the false block, not only the fraud.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this line slowly. It is the answer to the judge who has seen ten SIM swap demos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this line slowly. It is the answer to the judge who has seen ten SIM swap demos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4 is the whole product. Show the budget being spent live in the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these have different costs. That is why planning matters.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Shadow mode next to the old rules is how banks actually buy. Say it that 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usual demo out loud. It shows you know the field and are not repeating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middle column is the argument. Naive API use is expensive. Spend time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card is the most honest thing in the deck. A Nokia judge will respect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our price with the price of one SMS code. That comparison wins meetings.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on the line and stop.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4d45f1426472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05a8b984af4b1d" /><Relationship Type="http://schemas.openxmlformats.org/officeDocument/2006/relationships/slideLayout" Target="/ppt/slideLayouts/slideLayout1.xml" Id="R96b805934ca4458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805934ca44584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2d1b58bd74998" /><Relationship Type="http://schemas.openxmlformats.org/officeDocument/2006/relationships/notesSlide" Target="/ppt/notesSlides/notesSlide1.xml" Id="Rbee6668d9d0245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c7b5abb5843a0" /><Relationship Type="http://schemas.openxmlformats.org/officeDocument/2006/relationships/notesSlide" Target="/ppt/notesSlides/notesSlide2.xml" Id="R6489f5faadf640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245f0d3fc4a51" /><Relationship Type="http://schemas.openxmlformats.org/officeDocument/2006/relationships/notesSlide" Target="/ppt/notesSlides/notesSlide3.xml" Id="R94d644ea5ff240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06c9415da4e87" /><Relationship Type="http://schemas.openxmlformats.org/officeDocument/2006/relationships/notesSlide" Target="/ppt/notesSlides/notesSlide4.xml" Id="R033e8018ccd042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3f9bcd50c4dbe" /><Relationship Type="http://schemas.openxmlformats.org/officeDocument/2006/relationships/notesSlide" Target="/ppt/notesSlides/notesSlide5.xml" Id="Rbff035136aec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2958f244f4e98" /><Relationship Type="http://schemas.openxmlformats.org/officeDocument/2006/relationships/notesSlide" Target="/ppt/notesSlides/notesSlide6.xml" Id="Rbb83c86f30a249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028fa5b5e48b0" /><Relationship Type="http://schemas.openxmlformats.org/officeDocument/2006/relationships/notesSlide" Target="/ppt/notesSlides/notesSlide7.xml" Id="R38ad9d5a9e2746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8190fd3ce446c" /><Relationship Type="http://schemas.openxmlformats.org/officeDocument/2006/relationships/notesSlide" Target="/ppt/notesSlides/notesSlide8.xml" Id="R81c2195c56e049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09931271e4dad" /><Relationship Type="http://schemas.openxmlformats.org/officeDocument/2006/relationships/chart" Target="/ppt/slides/charts/chart1.xml" Id="R68fac05ca6ee44ef" /><Relationship Type="http://schemas.openxmlformats.org/officeDocument/2006/relationships/notesSlide" Target="/ppt/notesSlides/notesSlide9.xml" Id="R36e1d05b15114d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50cabef8e47c6" /><Relationship Type="http://schemas.openxmlformats.org/officeDocument/2006/relationships/notesSlide" Target="/ppt/notesSlides/notesSlide10.xml" Id="R350b4bea13994e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42166d8bc4e00" /><Relationship Type="http://schemas.openxmlformats.org/officeDocument/2006/relationships/notesSlide" Target="/ppt/notesSlides/notesSlide11.xml" Id="Raf845f91e6bf47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f6e67704b4864" /><Relationship Type="http://schemas.openxmlformats.org/officeDocument/2006/relationships/notesSlide" Target="/ppt/notesSlides/notesSlide12.xml" Id="R81d5fa1b98c04b31" /></Relationships>
</file>

<file path=ppt/slides/charts/chart1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Our model, per 100 transfers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14213D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with no extra step</c:v>
                </c:pt>
              </c:strCache>
            </c:strRef>
          </c:tx>
          <c:spPr>
            <a:solidFill xmlns:a="http://schemas.openxmlformats.org/drawingml/2006/main">
              <a:srgbClr val="1F3A6E"/>
            </a:solidFill>
          </c:spP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14213D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Rules today</c:v>
                </c:pt>
                <c:pt idx="1">
                  <c:v>SIM check on all</c:v>
                </c:pt>
                <c:pt idx="2">
                  <c:v>With Amana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70</c:v>
                </c:pt>
                <c:pt idx="2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 API calls used</c:v>
                </c:pt>
              </c:strCache>
            </c:strRef>
          </c:tx>
          <c:spPr>
            <a:solidFill xmlns:a="http://schemas.openxmlformats.org/drawingml/2006/main">
              <a:srgbClr val="00A896"/>
            </a:solidFill>
          </c:spP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14213D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Rules today</c:v>
                </c:pt>
                <c:pt idx="1">
                  <c:v>SIM check on all</c:v>
                </c:pt>
                <c:pt idx="2">
                  <c:v>With Amana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100</c:v>
                </c:pt>
                <c:pt idx="2">
                  <c:v>28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14213D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8738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3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873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68738A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21955FC-B2FE-4865-8058-817A9131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6E">
              <a:alpha val="55000"/>
            </a:srgbClr>
          </a:solidFill>
          <a:ln xmlns:a="http://schemas.openxmlformats.org/drawingml/2006/main" w="12700">
            <a:solidFill>
              <a:srgbClr val="1F3A6E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9C5F172-F807-48F6-9EEB-318FF853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420624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>
              <a:alpha val="30000"/>
            </a:srgbClr>
          </a:solidFill>
          <a:ln xmlns:a="http://schemas.openxmlformats.org/drawingml/2006/main"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2DC9B0-2E73-4BB5-B490-B89A15AC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7160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300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MENA IGNITE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DAF76C-0647-4997-9380-6CE22E1C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Amana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3C8400D-50C3-4422-BCF2-34F745DE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2100">
                <a:solidFill>
                  <a:srgbClr val="C7D3E6"/>
                </a:solidFill>
                <a:latin typeface="Calibri"/>
                <a:ea typeface="Calibri"/>
                <a:cs typeface="Calibri"/>
              </a:rPr>
              <a:t>A cost aware AI agent for cross border money transfers. It stops the stolen one and stops blocking the honest one.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A28042D-022A-41B1-9B56-667D0CE6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17720"/>
            <a:ext cx="6035040" cy="566928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1F3A6E"/>
          </a:solidFill>
          <a:ln xmlns:a="http://schemas.openxmlformats.org/drawingml/2006/main" w="12700">
            <a:solidFill>
              <a:srgbClr val="1F3A6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350089C-76B3-48DA-951B-10F567EB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17720"/>
            <a:ext cx="6035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Theme 4   Secure Fintech, Payments and Anti Fraud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447BC21-02D2-4BD0-B04D-F50C9573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7D3E6"/>
                </a:solidFill>
                <a:latin typeface="Calibri"/>
                <a:ea typeface="Calibri"/>
                <a:cs typeface="Calibri"/>
              </a:rPr>
              <a:t>Built on GSMA Open Gateway CAMARA APIs and Nokia Network as Code</a:t>
            </a:r>
          </a:p>
        </p:txBody>
      </p:sp>
    </p:spTree>
    <p:extLst>
      <p:ext uri="{BB962C8B-B14F-4D97-AF65-F5344CB8AC3E}">
        <p14:creationId xmlns:p14="http://schemas.microsoft.com/office/powerpoint/2010/main" val="1603330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4AC49F-413F-4EE1-8ACF-166CDDE7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0A7A6E"/>
                </a:solidFill>
                <a:latin typeface="Calibri"/>
                <a:ea typeface="Calibri"/>
                <a:cs typeface="Calibri"/>
              </a:rPr>
              <a:t>THE PROBLEM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CB22DE2-36C9-480B-B01C-0E04CA93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D"/>
                </a:solidFill>
                <a:latin typeface="Cambria"/>
                <a:ea typeface="Cambria"/>
                <a:cs typeface="Cambria"/>
              </a:rPr>
              <a:t>Banks block the wrong people and pay for it twice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E4EBAAE-9ECD-43C2-89D9-CCD1CC8C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344424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35CE4C7-4713-443F-BC7C-9D2B19FF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92224"/>
            <a:ext cx="2987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3A6E"/>
                </a:solidFill>
                <a:latin typeface="Cambria"/>
                <a:ea typeface="Cambria"/>
                <a:cs typeface="Cambria"/>
              </a:rPr>
              <a:t>35M+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C9BC3F5-373A-419D-BD6A-7A493C1E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32304"/>
            <a:ext cx="2987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50">
                <a:solidFill>
                  <a:srgbClr val="68738A"/>
                </a:solidFill>
                <a:latin typeface="Calibri"/>
                <a:ea typeface="Calibri"/>
                <a:cs typeface="Calibri"/>
              </a:rPr>
              <a:t>migrant workers live and work in the Gulf countries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1995A79-582F-46C7-AC9A-16AA37FC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1645920"/>
            <a:ext cx="344424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2DEA0AB-DD32-4460-940A-67D1A445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240" y="1792224"/>
            <a:ext cx="2987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3A6E"/>
                </a:solidFill>
                <a:latin typeface="Cambria"/>
                <a:ea typeface="Cambria"/>
                <a:cs typeface="Cambria"/>
              </a:rPr>
              <a:t>Every rule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387B4A5-BD9A-4686-877D-43811749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240" y="2432304"/>
            <a:ext cx="2987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50">
                <a:solidFill>
                  <a:srgbClr val="68738A"/>
                </a:solidFill>
                <a:latin typeface="Calibri"/>
                <a:ea typeface="Calibri"/>
                <a:cs typeface="Calibri"/>
              </a:rPr>
              <a:t>that fires on a normal worker costs a customer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720C257-5CF4-49EE-B67A-1D5B2856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1645920"/>
            <a:ext cx="344424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7007D46-965C-44DF-BE87-B9632817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520" y="1792224"/>
            <a:ext cx="2987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3A6E"/>
                </a:solidFill>
                <a:latin typeface="Cambria"/>
                <a:ea typeface="Cambria"/>
                <a:cs typeface="Cambria"/>
              </a:rPr>
              <a:t>Twice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6188A2F-C4FC-41F5-9FE5-8A148FEF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520" y="2432304"/>
            <a:ext cx="2987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50">
                <a:solidFill>
                  <a:srgbClr val="68738A"/>
                </a:solidFill>
                <a:latin typeface="Calibri"/>
                <a:ea typeface="Calibri"/>
                <a:cs typeface="Calibri"/>
              </a:rPr>
              <a:t>the bank pays, once for the check and once in lost business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6DAE339-554F-49A1-8F0B-8C1AE1DD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0215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D7BCEC4-F1A2-4CCA-8798-AA62C0BA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3429000"/>
            <a:ext cx="10497312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5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A cross border worker looks strange to a classic rule engine. New country, new device, odd hours, a receiver in a third country. All of that is simply his normal life.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926E16-7CB7-468B-B10A-9395AF19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F3F5175-0086-41AD-AC51-5C999131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087368"/>
            <a:ext cx="10497312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5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So the rules fire, the transfer is held and an honest customer goes to a cash agent instead. The bank loses the fee and the trust.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D679310-9AA0-48D8-B8E4-A30A6F3F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1888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6E76C-A2AF-4164-B8B5-90BF6549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745736"/>
            <a:ext cx="10497312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5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Meanwhile real fraud still gets through, because the criminal moves the number to a new SIM and reads the code from the SMS.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BFF197C-01D3-4D7D-83E9-C35D4B8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7725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5185805-0479-421E-ADFC-A7F5AB8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5404104"/>
            <a:ext cx="10497312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5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Adding more checks makes both problems worse. Cost goes up and honest customers leave faster.</a:t>
            </a:r>
          </a:p>
        </p:txBody>
      </p:sp>
    </p:spTree>
    <p:extLst>
      <p:ext uri="{BB962C8B-B14F-4D97-AF65-F5344CB8AC3E}">
        <p14:creationId xmlns:p14="http://schemas.microsoft.com/office/powerpoint/2010/main" val="470449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CEFD236-D92D-45A2-95B7-2BD80D45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0A7A6E"/>
                </a:solidFill>
                <a:latin typeface="Calibri"/>
                <a:ea typeface="Calibri"/>
                <a:cs typeface="Calibri"/>
              </a:rPr>
              <a:t>THE SOLUTION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7687B1-C028-4EA1-8435-848D67D3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D"/>
                </a:solidFill>
                <a:latin typeface="Cambria"/>
                <a:ea typeface="Cambria"/>
                <a:cs typeface="Cambria"/>
              </a:rPr>
              <a:t>Amana plans the checks instead of running them all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770D2F-2FDD-4260-BF1C-6956BF63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37360"/>
            <a:ext cx="34442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44C870D-3E84-4121-ACCC-5294E8F0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20D379F-5709-4709-ADE9-75968AB2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It has a budget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A3B866E-9038-42E8-B8CA-F441E890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395728"/>
            <a:ext cx="293217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Each transfer gets a small budget in time and money. The agent must spend it well and say what it bought.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D41DC30-1502-4582-8B8E-435C519B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1737360"/>
            <a:ext cx="34442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49DBC84-A3D8-4CB8-9AFD-C5E23CCB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D19C91-61DC-4177-B2A0-6DFB6548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It reads the person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E9A0431-44D0-4271-AC2B-2345CB1A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2395728"/>
            <a:ext cx="293217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A worker abroad is normal. The agent knows the difference between a strange life and a strange event.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4A62869-48C0-49F5-8B91-948CE48B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1737360"/>
            <a:ext cx="34442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A51A34-79E5-4317-B81C-2135602E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EB918E2-C71F-443F-B093-D7E8320A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It writes the reason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4E13192-450D-4F30-9273-755C6DAD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2395728"/>
            <a:ext cx="293217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Every hold comes with a short line the support team can read out to the customer straight away.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0865AA8-7E67-459E-8F4D-A6B508F6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86200"/>
            <a:ext cx="1097280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ED73A4-2872-456F-8C85-5D84DB93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690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One sentence for the judges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5C7B987-859B-41F8-A839-DDC203FD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89120"/>
            <a:ext cx="10241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bank can call a SIM Swap API. The hard part is knowing when it is worth calling, and Amana is an agent built around that single question.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949B06-6B3B-4013-87EC-7D6A6031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8738A"/>
                </a:solidFill>
                <a:latin typeface="Calibri"/>
                <a:ea typeface="Calibri"/>
                <a:cs typeface="Calibri"/>
              </a:rPr>
              <a:t>The agent layer is built only with the tools listed in the official Resource and Tooling Guide.</a:t>
            </a:r>
          </a:p>
        </p:txBody>
      </p:sp>
    </p:spTree>
    <p:extLst>
      <p:ext uri="{BB962C8B-B14F-4D97-AF65-F5344CB8AC3E}">
        <p14:creationId xmlns:p14="http://schemas.microsoft.com/office/powerpoint/2010/main" val="621598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CEFD236-D92D-45A2-95B7-2BD80D45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00" b="1">
                <a:solidFill>
                  <a:srgbClr val="0A7A6E"/>
                </a:solidFill>
                <a:latin typeface="Calibri"/>
                <a:ea typeface="Calibri"/>
                <a:cs typeface="Calibri"/>
              </a:defRPr>
            </a:pPr>
            <a:r>
              <a:rPr sz="1100" b="1" spc="300">
                <a:solidFill>
                  <a:srgbClr val="0A7A6E"/>
                </a:solidFill>
                <a:latin typeface="Calibri"/>
                <a:ea typeface="Calibri"/>
                <a:cs typeface="Calibri"/>
              </a:rPr>
              <a:t>THE FAIRNESS BOUNDARY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7687B1-C028-4EA1-8435-848D67D3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3600" b="1">
                <a:solidFill>
                  <a:srgbClr val="14213D"/>
                </a:solidFill>
                <a:latin typeface="Cambria"/>
                <a:ea typeface="Cambria"/>
                <a:cs typeface="Cambria"/>
              </a:defRPr>
            </a:pPr>
            <a:r>
              <a:rPr sz="3600" b="1">
                <a:solidFill>
                  <a:srgbClr val="14213D"/>
                </a:solidFill>
                <a:latin typeface="Cambria"/>
                <a:ea typeface="Cambria"/>
                <a:cs typeface="Cambria"/>
              </a:rPr>
              <a:t>A worker abroad is not a fraud pattern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770D2F-2FDD-4260-BF1C-6956BF63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37360"/>
            <a:ext cx="34442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44C870D-3E84-4121-ACCC-5294E8F0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20D379F-5709-4709-ADE9-75968AB2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450" b="1">
                <a:solidFill>
                  <a:srgbClr val="14213D"/>
                </a:solidFill>
                <a:latin typeface="Calibri"/>
                <a:ea typeface="Calibri"/>
                <a:cs typeface="Calibri"/>
              </a:defRPr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A declared life is normal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A3B866E-9038-42E8-B8CA-F441E890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395728"/>
            <a:ext cx="293217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250">
                <a:solidFill>
                  <a:srgbClr val="3B4459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A worker may live in one country, get paid there and send home at odd hours. Roaming alone is not a risk signal.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D41DC30-1502-4582-8B8E-435C519B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1737360"/>
            <a:ext cx="34442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49DBC84-A3D8-4CB8-9AFD-C5E23CCB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D19C91-61DC-4177-B2A0-6DFB6548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450" b="1">
                <a:solidFill>
                  <a:srgbClr val="14213D"/>
                </a:solidFill>
                <a:latin typeface="Calibri"/>
                <a:ea typeface="Calibri"/>
                <a:cs typeface="Calibri"/>
              </a:defRPr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A fresh change is different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E9A0431-44D0-4271-AC2B-2345CB1A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2395728"/>
            <a:ext cx="293217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250">
                <a:solidFill>
                  <a:srgbClr val="3B4459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A recent SIM swap, new handset or new receiver close to a transfer is the pattern that deserves another check.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4A62869-48C0-49F5-8B91-948CE48B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1737360"/>
            <a:ext cx="34442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A51A34-79E5-4317-B81C-2135602E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EB918E2-C71F-443F-B093-D7E8320A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450" b="1">
                <a:solidFill>
                  <a:srgbClr val="14213D"/>
                </a:solidFill>
                <a:latin typeface="Calibri"/>
                <a:ea typeface="Calibri"/>
                <a:cs typeface="Calibri"/>
              </a:defRPr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Consent is bounded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4E13192-450D-4F30-9273-755C6DAD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2395728"/>
            <a:ext cx="293217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250">
                <a:solidFill>
                  <a:srgbClr val="3B4459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The customer asks for this decision. Consent covers this transfer only, and a human remains in charge of a hold.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0865AA8-7E67-459E-8F4D-A6B508F6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86200"/>
            <a:ext cx="1097280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ED73A4-2872-456F-8C85-5D84DB93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690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00A896"/>
                </a:solidFill>
                <a:latin typeface="Calibri"/>
                <a:ea typeface="Calibri"/>
                <a:cs typeface="Calibri"/>
              </a:defRPr>
            </a:pPr>
            <a:r>
              <a:rPr sz="1200" b="1" spc="200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The rule for the agent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5C7B987-859B-41F8-A839-DDC203FD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89120"/>
            <a:ext cx="10241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Roaming is context, not a red flag. Amana escalates only when a fresh change can alter the decision.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949B06-6B3B-4013-87EC-7D6A6031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00" i="1">
                <a:solidFill>
                  <a:srgbClr val="68738A"/>
                </a:solidFill>
                <a:latin typeface="Calibri"/>
                <a:ea typeface="Calibri"/>
                <a:cs typeface="Calibri"/>
              </a:defRPr>
            </a:pPr>
            <a:r>
              <a:rPr sz="1100" i="1">
                <a:solidFill>
                  <a:srgbClr val="68738A"/>
                </a:solidFill>
                <a:latin typeface="Calibri"/>
                <a:ea typeface="Calibri"/>
                <a:cs typeface="Calibri"/>
              </a:rPr>
              <a:t>Gemini plans approved network checks; runtime guardrails enforce consent, budget and evidence.</a:t>
            </a:r>
          </a:p>
        </p:txBody>
      </p:sp>
    </p:spTree>
    <p:extLst>
      <p:ext uri="{BB962C8B-B14F-4D97-AF65-F5344CB8AC3E}">
        <p14:creationId xmlns:p14="http://schemas.microsoft.com/office/powerpoint/2010/main" val="621598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7E5810-7B52-49D1-812B-3A47C9C6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0A7A6E"/>
                </a:solidFill>
                <a:latin typeface="Calibri"/>
                <a:ea typeface="Calibri"/>
                <a:cs typeface="Calibri"/>
              </a:rPr>
              <a:t>AI AGENT LOGIC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929BF9-07A3-41C6-AF12-A30E515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D"/>
                </a:solidFill>
                <a:latin typeface="Cambria"/>
                <a:ea typeface="Cambria"/>
                <a:cs typeface="Cambria"/>
              </a:rPr>
              <a:t>How the agent spends its budget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8D59D4-AA55-429C-8E85-EBBA0424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7830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6E"/>
          </a:solidFill>
          <a:ln xmlns:a="http://schemas.openxmlformats.org/drawingml/2006/main" w="12700">
            <a:solidFill>
              <a:srgbClr val="1F3A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2803F09-6C10-4A37-ABAE-C6BF29B8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7830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659C152-A6AA-4BFE-96DC-5261E9E3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764792"/>
            <a:ext cx="4462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The user presses send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1FC176-47DD-4631-B1AA-815BDE34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039112"/>
            <a:ext cx="44622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The agent asks the network to confirm the number on that phone. No SMS code is sent.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6B4369A-E6B3-4CED-8699-8E738AAB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1089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6E"/>
          </a:solidFill>
          <a:ln xmlns:a="http://schemas.openxmlformats.org/drawingml/2006/main" w="12700">
            <a:solidFill>
              <a:srgbClr val="1F3A6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A7DBF7-4803-47B0-941C-45498D1D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1089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C65D10E-A07D-47C6-9975-9872EE94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90672"/>
            <a:ext cx="4462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It reads the history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EB113A-9180-4F75-8CDC-D931B0D6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64992"/>
            <a:ext cx="44622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It knows this line, this receiver and this corridor. Most transfers are boring and stop right here.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480C69E-0929-4EEF-9F77-029789B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4348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6E"/>
          </a:solidFill>
          <a:ln xmlns:a="http://schemas.openxmlformats.org/drawingml/2006/main" w="12700">
            <a:solidFill>
              <a:srgbClr val="1F3A6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0C4A40B-FA39-4E60-9012-20DF905B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4348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BB5C59C-487A-46DE-85E2-0A105E5F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416552"/>
            <a:ext cx="4462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It finds one odd thing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838EEAA-91CD-4CB2-8DE2-2BD5B5E7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690872"/>
            <a:ext cx="44622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A new receiver, a bigger amount or a new device. One odd thing alone is never a decision.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13BB132-780E-4FC0-87B0-7872A3B2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830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6E"/>
          </a:solidFill>
          <a:ln xmlns:a="http://schemas.openxmlformats.org/drawingml/2006/main" w="12700">
            <a:solidFill>
              <a:srgbClr val="1F3A6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622AD6E-20E3-4948-98A1-6B621339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830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F59384E-BADD-41B2-B189-C4A08D42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764792"/>
            <a:ext cx="46451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It buys the best signal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02BD87E-90D1-4F4B-AFB0-5FC17863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39112"/>
            <a:ext cx="464515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It picks the one check that would change the answer most, usually SIM Swap, and pays only for that.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3FD7F1C-B150-4E30-9928-8076BF7F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089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6E"/>
          </a:solidFill>
          <a:ln xmlns:a="http://schemas.openxmlformats.org/drawingml/2006/main" w="12700">
            <a:solidFill>
              <a:srgbClr val="1F3A6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38988EB-BD1E-4594-9B0F-F09B1EFD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089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4CE6432-61D5-4177-ABDD-3D33C82C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90672"/>
            <a:ext cx="46451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It keeps the life apart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A3D8672-9CF0-4C5F-9BF6-59644892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364992"/>
            <a:ext cx="464515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Roaming and a foreign place are normal for a worker. Only a fresh change close to the transfer counts.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2AE1121-AC30-4E35-AEFD-2A8B0C6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4348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6E"/>
          </a:solidFill>
          <a:ln xmlns:a="http://schemas.openxmlformats.org/drawingml/2006/main" w="12700">
            <a:solidFill>
              <a:srgbClr val="1F3A6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5D22B00-C39B-4E4D-B0B3-262F7E90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4348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AD05AA1-E332-4F44-9556-E79FBD2A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16552"/>
            <a:ext cx="46451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It answers and explains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141C832-9688-40A2-B068-A3715576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690872"/>
            <a:ext cx="464515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Send, ask one small step, or hold and call. Every answer carries the signals that made it.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802EDF8-7F08-46D7-BEA1-E29B59C7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49240"/>
            <a:ext cx="1097280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DFD9FF3-0FD3-41F8-993F-AC8B8D38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10332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The agent buys a network signal only when the answer can change the decision. Nothing else is called.</a:t>
            </a:r>
          </a:p>
        </p:txBody>
      </p:sp>
    </p:spTree>
    <p:extLst>
      <p:ext uri="{BB962C8B-B14F-4D97-AF65-F5344CB8AC3E}">
        <p14:creationId xmlns:p14="http://schemas.microsoft.com/office/powerpoint/2010/main" val="1500455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1BE462-0E01-4B7C-8D33-60AFCC10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0A7A6E"/>
                </a:solidFill>
                <a:latin typeface="Calibri"/>
                <a:ea typeface="Calibri"/>
                <a:cs typeface="Calibri"/>
              </a:rPr>
              <a:t>CAMARA APIS ON NOKIA NETWORK AS CODE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CDAFD1-2E9C-4AF2-8445-8FB8B088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D"/>
                </a:solidFill>
                <a:latin typeface="Cambria"/>
                <a:ea typeface="Cambria"/>
                <a:cs typeface="Cambria"/>
              </a:rPr>
              <a:t>Six network signals with different prices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9D7378B-A8C1-4FC7-9FE7-83B69C56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37360"/>
            <a:ext cx="3444240" cy="169164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B27CF5-AC61-4028-81BD-59A51DE6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E9FF389-1D18-42BE-9B43-5E2CBBCF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Number Verification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A98DC9-0B57-4C3C-82C2-6C873123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395728"/>
            <a:ext cx="29321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Proves the phone holds the number, with no code to type and nothing to steal.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FF241A8-B47A-4A36-8BF2-D285088E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1737360"/>
            <a:ext cx="3444240" cy="169164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8153720-6B4A-4A2F-ABCC-D3A60DB9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6DE8D1E-2914-48D5-81BB-39650BF3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SIM Swap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87D37E0-582C-49DC-ABFD-2B61A061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2395728"/>
            <a:ext cx="29321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Shows if the number moved to another SIM in the last days. The strongest single signal.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F787AAF-7654-48DB-AE3A-097AF8C7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1737360"/>
            <a:ext cx="3444240" cy="169164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A0DD3BA-490A-41C1-ABDF-49E149EA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8DB07E2-60FF-4D1D-BD4F-922FEFDA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Device Swap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4F2B97-745E-4AF9-9C43-FAB53804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2395728"/>
            <a:ext cx="29321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Shows if the number moved to another phone, which most takeover fraud also needs.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7AEB6F1-9CE8-4C29-B952-AA51C5D0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3444240" cy="169164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0892E9E-528B-4272-931B-5B5E9CA2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593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EFE506A-4970-4B4E-87E1-A639FDB3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41064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SIM Swap Date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54E3A6A-B99F-4743-A7EC-618AA992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79976"/>
            <a:ext cx="29321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The hour the SIM actually changed. Six hours before a transfer is a block, nine days is a hold.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CBA7D96-D60D-4A53-B841-160DB183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3721608"/>
            <a:ext cx="3444240" cy="169164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2CE45E6-1DF6-4583-BDF1-7D55697D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39593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28840C9-976D-4424-8C24-DD7BE718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941064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Device Roaming Status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B2314A8-F23A-4906-A677-F7A922B1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4379976"/>
            <a:ext cx="29321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Tells if the user is abroad, which is normal here and never a flag on its own.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22CC982-FE0F-4B23-B2AB-CA5B673D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3721608"/>
            <a:ext cx="3444240" cy="169164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EBD076F-75D2-4240-8A35-8A85FBC3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39593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EEF46E9-857A-46B0-A1BB-1B6B8B4D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3941064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Device Reachability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1ECE80B-7A47-4C22-A590-C249FDDF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4379976"/>
            <a:ext cx="29321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Makes sure a hold message or a call can really reach the customer before we send it.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2B8E1E6-FAC3-450E-BDEB-1D25FA3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6928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8738A"/>
                </a:solidFill>
                <a:latin typeface="Calibri"/>
                <a:ea typeface="Calibri"/>
                <a:cs typeface="Calibri"/>
              </a:rPr>
              <a:t>All six are wired in the working prototype. 6 scenarios, all reaching the outcome they claim, at 51.4% less than calling every check.</a:t>
            </a:r>
          </a:p>
        </p:txBody>
      </p:sp>
    </p:spTree>
    <p:extLst>
      <p:ext uri="{BB962C8B-B14F-4D97-AF65-F5344CB8AC3E}">
        <p14:creationId xmlns:p14="http://schemas.microsoft.com/office/powerpoint/2010/main" val="10497785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A162A69-9165-4F80-B509-B182B585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0A7A6E"/>
                </a:solidFill>
                <a:latin typeface="Calibri"/>
                <a:ea typeface="Calibri"/>
                <a:cs typeface="Calibri"/>
              </a:rPr>
              <a:t>ARCHITECTURE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9774893-FCC2-45F4-B9C2-631262B9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D"/>
                </a:solidFill>
                <a:latin typeface="Cambria"/>
                <a:ea typeface="Cambria"/>
                <a:cs typeface="Cambria"/>
              </a:rPr>
              <a:t>One call from the bank, one answer with a reason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6FA692A-5F53-4D51-A78A-D465D1E5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2455164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D39B899-8286-4BD1-8D19-88637204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4248"/>
            <a:ext cx="208940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Bank or wallet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6E010C8-4774-415E-B4D1-1E637B80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532888"/>
            <a:ext cx="21259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1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Sends the transfer request and waits for one short answer.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2CE58B1-2820-4A25-890A-4BF0C309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388" y="2647188"/>
            <a:ext cx="274320" cy="23774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8E94A42-C5C0-4A24-B560-352029EC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572" y="1783080"/>
            <a:ext cx="2455164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F3A6E"/>
          </a:solidFill>
          <a:ln xmlns:a="http://schemas.openxmlformats.org/drawingml/2006/main" w="12700">
            <a:solidFill>
              <a:srgbClr val="1F3A6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3BE972C-F102-40B9-9CAC-A6470840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452" y="1984248"/>
            <a:ext cx="208940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Amana agent core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517F647-81E6-4C64-991D-D100A746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164" y="2532888"/>
            <a:ext cx="21259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150">
                <a:solidFill>
                  <a:srgbClr val="C7D3E6"/>
                </a:solidFill>
                <a:latin typeface="Calibri"/>
                <a:ea typeface="Calibri"/>
                <a:cs typeface="Calibri"/>
              </a:rPr>
              <a:t>Plans the checks, spends the budget, reads the signals and writes the reason.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698503-D2F6-4370-A769-A9E4C628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47188"/>
            <a:ext cx="274320" cy="23774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38AB66E-7C0E-46E5-98C5-614465F8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783080"/>
            <a:ext cx="2455164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5E99F78-0262-4697-91B4-7E5BCF7F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984248"/>
            <a:ext cx="208940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Nokia Network as Code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3144C71-1AD0-4EA1-87DE-981378DA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532888"/>
            <a:ext cx="21259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1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Keys, quotas, consent tokens and the simulator numbers for the demo.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9BAEAF-4BDF-4A70-AF8C-E0CD8B3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812" y="2647188"/>
            <a:ext cx="274320" cy="23774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2A0E705-5E38-4D3B-A917-2E97F833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996" y="1783080"/>
            <a:ext cx="2455164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0F519A4-01EC-42D8-98AD-3380415A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76" y="1984248"/>
            <a:ext cx="208940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CAMARA APIs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70DE708-5182-4A52-A1CA-330A7AAC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2532888"/>
            <a:ext cx="21259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1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Number, SIM, device, place, roaming and reachability signals.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97DE520-AA45-4A53-AB14-925A29C0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69080"/>
            <a:ext cx="3444240" cy="146304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AEF035F-2299-46CB-9725-73DC6AA8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068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17BC158-0717-4BAA-BA88-E9E15C0B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8853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Easy to test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10A221F-F74F-4377-B625-17C66E76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727448"/>
            <a:ext cx="2932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One request and one answer. A bank can run Amana next to the old rules and compare for a month.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874BED3-D17A-4A1E-898F-507FBE88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4069080"/>
            <a:ext cx="3444240" cy="146304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3A35B1B-33FD-48FE-A96E-C9200660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43068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E78EB3B-4FFF-4833-B6FA-8D07F1AA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428853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Consent is clean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D1E821A-1ACD-4500-9A4E-F946CB1C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4727448"/>
            <a:ext cx="2932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The customer already agreed to fraud checks in the bank terms. We add a clear line for network signals.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957B9E7-DFF8-4F89-8B12-E213AC65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4069080"/>
            <a:ext cx="3444240" cy="146304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397F4F1-FD1C-4034-B07B-05FFDDFB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43068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B15CD99-6A79-4272-845A-BC9B4CAA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428853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Ready for the demo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5C1199F-F8EC-421F-8032-5934BF70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4727448"/>
            <a:ext cx="2932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Simulator numbers from the Nokia portal play a full takeover story with no real SIM cards.</a:t>
            </a:r>
          </a:p>
        </p:txBody>
      </p:sp>
    </p:spTree>
    <p:extLst>
      <p:ext uri="{BB962C8B-B14F-4D97-AF65-F5344CB8AC3E}">
        <p14:creationId xmlns:p14="http://schemas.microsoft.com/office/powerpoint/2010/main" val="1179578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5BABC04-B89F-45AA-A51D-6747F6A2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0A7A6E"/>
                </a:solidFill>
                <a:latin typeface="Calibri"/>
                <a:ea typeface="Calibri"/>
                <a:cs typeface="Calibri"/>
              </a:rPr>
              <a:t>WHY THIS IS DIFFERENT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5442EF-FAAD-4FE1-8892-D126F782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D"/>
                </a:solidFill>
                <a:latin typeface="Cambria"/>
                <a:ea typeface="Cambria"/>
                <a:cs typeface="Cambria"/>
              </a:rPr>
              <a:t>The signals are public. The judgement is not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A5736E6-B1FE-488F-B709-D0E660FD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356616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F4F5F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6443CC6-AB5F-445A-AD8D-40335168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68738A"/>
                </a:solidFill>
                <a:latin typeface="Calibri"/>
                <a:ea typeface="Calibri"/>
                <a:cs typeface="Calibri"/>
              </a:rPr>
              <a:t>The usual Open Gateway demo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D18CF29-DB8C-4FED-903D-12EEFF7C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775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539CAB-021C-441B-8379-1064FFFF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514600"/>
            <a:ext cx="4279392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3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Call SIM Swap on every login and block if it is true.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379DBAE-6ED8-4ADF-BC58-D85BDF5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098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219B4D6-BEF1-468E-938A-ED29719C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227832"/>
            <a:ext cx="4279392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3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The same checks run whether the transfer is safe or not.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4314664-5112-46C5-9FD4-1AB49001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42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DE32D5A-4CA4-4799-8AC3-5437D7C6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941064"/>
            <a:ext cx="4279392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3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Roaming counts as risk, so migrant workers keep failing.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86DB8E3-41BE-43DD-B802-EFBCC06A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744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B92301-B1BD-4E1C-B4AA-67F25A74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654296"/>
            <a:ext cx="4279392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3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A hold arrives with no reason, so support cannot help.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FCC52E9-5178-4873-8FA7-AB6B44C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83080"/>
            <a:ext cx="5303520" cy="356616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62471FD-F495-434D-AB29-2F02878D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01168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What Amana does instead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F9E2BFC-1819-4823-B14E-A527D1AA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8775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AD7D739-36F3-4C63-8B95-28EBA7C3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2514600"/>
            <a:ext cx="4389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 decides whether that call is worth its price at all.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6F9B304-8C50-4359-8B02-2CEAA639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009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337B7D8-8C16-4017-A405-034CFA07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3227832"/>
            <a:ext cx="4389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Boring transfers cost the bank almost nothing to clear.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D837F3C-4DB4-4FBD-BDCB-F6444FE9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01421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2CBE0D-A04B-4D39-B0C3-2F91DEA8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3941064"/>
            <a:ext cx="4389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normal life abroad is separated from a fresh change.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35591C7-3155-4302-853C-13386126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274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C4E9638-61BF-4604-9799-CE6B6D8B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4654296"/>
            <a:ext cx="4389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answer carries the signals that produced it.</a:t>
            </a:r>
          </a:p>
        </p:txBody>
      </p:sp>
    </p:spTree>
    <p:extLst>
      <p:ext uri="{BB962C8B-B14F-4D97-AF65-F5344CB8AC3E}">
        <p14:creationId xmlns:p14="http://schemas.microsoft.com/office/powerpoint/2010/main" val="14496925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FF53C0-39A1-4BBC-B943-AA032980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0A7A6E"/>
                </a:solidFill>
                <a:latin typeface="Calibri"/>
                <a:ea typeface="Calibri"/>
                <a:cs typeface="Calibri"/>
              </a:rPr>
              <a:t>IMPACT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564A62D-0492-4136-976A-DB1E82C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D"/>
                </a:solidFill>
                <a:latin typeface="Cambria"/>
                <a:ea typeface="Cambria"/>
                <a:cs typeface="Cambria"/>
              </a:rPr>
              <a:t>Fewer blocked customers, lower cost per check</a:t>
            </a:r>
          </a:p>
        </p:txBody>
      </p:sp>
      <p:graphicFrame>
        <p:nvGraphicFramePr>
          <p:cNvPr id="21" name="Chart 0"/>
          <p:cNvGraphicFramePr/>
          <p:nvPr/>
        </p:nvGraphicFramePr>
        <p:xfrm>
          <a:off xmlns:a="http://schemas.openxmlformats.org/drawingml/2006/main" x="594360" y="1783080"/>
          <a:ext xmlns:a="http://schemas.openxmlformats.org/drawingml/2006/main" cx="6035040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fac05ca6ee44ef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47258FB-F0CC-444A-9C11-367BDE2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783080"/>
            <a:ext cx="461772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001DC91-3456-49CF-ADFB-3A2874C0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0208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B262BF5-73C3-4C04-90FD-57D66D19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002536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For families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A25102E-FE99-4345-B002-F51C1D83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441448"/>
            <a:ext cx="41056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Money arrives on the first try, so a family at home is not left waiting for days.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D2E2EA0-24B1-4912-AC01-C930A81E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154680"/>
            <a:ext cx="461772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CEA07E6-B19A-456B-8173-6EA39FA5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3924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E1C0BDA-B11F-478B-854E-8FBAB412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374136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For banks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17FFE96-57B0-4C1F-B3F7-C7E52826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813048"/>
            <a:ext cx="41056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The middle column is the trap. Calling every API on every transfer is safe and far too costly.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3B3DC42-DBC0-4970-A73A-AF26A88E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526280"/>
            <a:ext cx="461772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8E88098-6982-4504-9C9B-37D4BA8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7640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27E725-EE33-4907-B95B-7091202E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745736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For the region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880B884-CDCE-4F51-B5DB-8972B5EE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5184648"/>
            <a:ext cx="41056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The same agent fits wallets, exchange houses, card payments and account opening.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3DEDC72-8F65-42E2-99E6-6917883A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1208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8738A"/>
                </a:solidFill>
                <a:latin typeface="Calibri"/>
                <a:ea typeface="Calibri"/>
                <a:cs typeface="Calibri"/>
              </a:rPr>
              <a:t>This is our own model, not measured data. We show the assumptions behind it in the demo.</a:t>
            </a:r>
          </a:p>
        </p:txBody>
      </p:sp>
    </p:spTree>
    <p:extLst>
      <p:ext uri="{BB962C8B-B14F-4D97-AF65-F5344CB8AC3E}">
        <p14:creationId xmlns:p14="http://schemas.microsoft.com/office/powerpoint/2010/main" val="1411103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C73B8F-9885-4F9B-AF01-317D8EB8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0A7A6E"/>
                </a:solidFill>
                <a:latin typeface="Calibri"/>
                <a:ea typeface="Calibri"/>
                <a:cs typeface="Calibri"/>
              </a:rPr>
              <a:t>WHAT COULD GO WRONG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FB132C-0E66-4311-B05C-0E64EA1E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D"/>
                </a:solidFill>
                <a:latin typeface="Cambria"/>
                <a:ea typeface="Cambria"/>
                <a:cs typeface="Cambria"/>
              </a:rPr>
              <a:t>The four hard questions, answered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B8ADF3-9A60-46E8-BC10-FC289DFF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20"/>
            <a:ext cx="532638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0CF0589-1E80-45C6-BD3A-F4D73234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57400"/>
            <a:ext cx="48143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Number Verification on roaming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938118-CD3C-4D31-8E76-05E2F5D1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377440"/>
            <a:ext cx="481431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It needs mobile data on a supported network and is weak while roaming. So we treat it as a bonus signal and never let one missing check stop a decision.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A288656-289E-4C5D-AF88-7D1C1920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1874520"/>
            <a:ext cx="532638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BFD5201-485E-4A17-9A8C-1DF88F1D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812" y="2057400"/>
            <a:ext cx="48143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A wrong hold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9284DCD-3042-4996-95A6-36EE1DD3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812" y="2377440"/>
            <a:ext cx="481431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Every hold carries its reason and a one step way out for the customer. We measure blocked good customers as a first class number, not as a side note.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DDF705-FC73-4080-BF73-ABC40B3C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47872"/>
            <a:ext cx="532638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4FE4538-EC19-4B26-8243-335ED59E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730752"/>
            <a:ext cx="48143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Operator coverage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A0DAD-4FD5-46D9-AE55-668B5B7F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50792"/>
            <a:ext cx="481431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Not every corridor has these APIs live yet. The agent knows which signals it can buy in each country and plans with what it has.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7C7EAB2-485F-4528-895F-D2E124BD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3547872"/>
            <a:ext cx="532638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32FFD06-8EE1-458E-8B9F-A960F454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812" y="3730752"/>
            <a:ext cx="48143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Someone copies the idea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C9733AD-33AC-4C07-BA24-32625777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812" y="4050792"/>
            <a:ext cx="481431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The API calls are public. The value sits in the plan, the corridor history and the reason writing, and that grows with every transfer we see.</a:t>
            </a:r>
          </a:p>
        </p:txBody>
      </p:sp>
    </p:spTree>
    <p:extLst>
      <p:ext uri="{BB962C8B-B14F-4D97-AF65-F5344CB8AC3E}">
        <p14:creationId xmlns:p14="http://schemas.microsoft.com/office/powerpoint/2010/main" val="10383873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318154C-E4B4-4750-B3A4-9CCD70E0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0A7A6E"/>
                </a:solidFill>
                <a:latin typeface="Calibri"/>
                <a:ea typeface="Calibri"/>
                <a:cs typeface="Calibri"/>
              </a:rPr>
              <a:t>BUSINESS MODEL AND PLAN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F8D6D9-7E94-4409-B8EE-EFE3D374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4213D"/>
                </a:solidFill>
                <a:latin typeface="Cambria"/>
                <a:ea typeface="Cambria"/>
                <a:cs typeface="Cambria"/>
              </a:rPr>
              <a:t>We are paid for the checks we do not run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9078ED5-D02C-4BE9-A06B-94FA8886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37360"/>
            <a:ext cx="3444240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6E59ED2-736C-49B2-B1EC-43D3853E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99D536-2E5A-4491-A05F-2F5C6B37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Who pays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27714A3-C23D-4134-A76E-1054537F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395728"/>
            <a:ext cx="2932176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Banks, wallets and exchange houses pay a fee for each decision. They already pay more than that for SMS codes.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4BB2C42-6C5B-4AAC-8C92-64976C79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1737360"/>
            <a:ext cx="3444240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C049626-39C2-4EE7-94CB-0B1B0E8B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8A67B4C-6108-4CCD-ADF9-C3AEA631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The operator share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77A8407-7DF2-41BC-B8CD-BA3C2AB5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72" y="2395728"/>
            <a:ext cx="2932176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Mobile operators earn from every API call we do buy, so they bring us to their bank customers.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FF71106-E327-4E25-9878-BA97ED8F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1737360"/>
            <a:ext cx="3444240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2700">
            <a:solidFill>
              <a:srgbClr val="EEF2F8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F35C860-51E3-41F8-A7D1-D36D460D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1975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12700">
            <a:solidFill>
              <a:srgbClr val="00A89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DD3EF0B-0FCA-4CE9-90FD-B624363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1956816"/>
            <a:ext cx="252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Next products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1115D5-4EFF-4B62-B509-C675FE14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52" y="2395728"/>
            <a:ext cx="2932176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The same agent protects account opening, card payments, SIM based login and government services.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EC9EB4F-577D-45EE-9F21-B71F4FE6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9776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6E"/>
          </a:solidFill>
          <a:ln xmlns:a="http://schemas.openxmlformats.org/drawingml/2006/main" w="12700">
            <a:solidFill>
              <a:srgbClr val="1F3A6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3531968-05AB-4487-BC02-3417031F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9776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0E62A60-93EA-4BDB-A3FD-910AED8E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59352"/>
            <a:ext cx="10314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Week 1 of the prototype phase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208AA38-2FD0-4AE7-92A9-146BB435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33672"/>
            <a:ext cx="1031443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Silent number check, swap checks and the budget planner running on Nokia simulator numbers.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FC532E1-4E30-45F6-B20A-6C7466C0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6908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6E"/>
          </a:solidFill>
          <a:ln xmlns:a="http://schemas.openxmlformats.org/drawingml/2006/main" w="12700">
            <a:solidFill>
              <a:srgbClr val="1F3A6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9C5746B-0A25-442F-A0A0-5E78F3EA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69087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C61D01B-60D4-47B3-9940-8D8F890F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672584"/>
            <a:ext cx="10314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44665C9-173D-4331-B414-E78B3D83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946904"/>
            <a:ext cx="1031443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Corridor history, plain word reasons, a small bank dashboard and the cost comparison view.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0584975-A398-4E81-9059-1824A73C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40410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6E"/>
          </a:solidFill>
          <a:ln xmlns:a="http://schemas.openxmlformats.org/drawingml/2006/main" w="12700">
            <a:solidFill>
              <a:srgbClr val="1F3A6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A1C744D-30D0-4440-8BF0-39DB17B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40410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A50F9B0-E4AA-404B-A662-596D5880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85816"/>
            <a:ext cx="10314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After the hackathon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6E483CB-3AAA-41BF-A9BF-062146DE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660136"/>
            <a:ext cx="1031443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3B4459"/>
                </a:solidFill>
                <a:latin typeface="Calibri"/>
                <a:ea typeface="Calibri"/>
                <a:cs typeface="Calibri"/>
              </a:rPr>
              <a:t>One shadow mode test with a Turkish wallet, then one Gulf remittance house.</a:t>
            </a:r>
          </a:p>
        </p:txBody>
      </p:sp>
    </p:spTree>
    <p:extLst>
      <p:ext uri="{BB962C8B-B14F-4D97-AF65-F5344CB8AC3E}">
        <p14:creationId xmlns:p14="http://schemas.microsoft.com/office/powerpoint/2010/main" val="3245667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09C9726-B2E8-4CFA-8B24-6FEC2725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63040" y="3840480"/>
            <a:ext cx="4023360" cy="4023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6E">
              <a:alpha val="50000"/>
            </a:srgbClr>
          </a:solidFill>
          <a:ln xmlns:a="http://schemas.openxmlformats.org/drawingml/2006/main" w="12700">
            <a:solidFill>
              <a:srgbClr val="1F3A6E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A4CBCB-2953-4648-973B-ACD24B0A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300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AMANA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B5AFA3-01B8-44CB-9F33-7D1647EB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32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Anyone can call the API. The value is knowing when not to.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9633A8-651E-4C2E-B372-695AB46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96012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800">
                <a:solidFill>
                  <a:srgbClr val="C7D3E6"/>
                </a:solidFill>
                <a:latin typeface="Calibri"/>
                <a:ea typeface="Calibri"/>
                <a:cs typeface="Calibri"/>
              </a:rPr>
              <a:t>An AI agent that keeps the honest transfer fast, stops the stolen one and can prove why it chose each answer.</a:t>
            </a:r>
          </a:p>
        </p:txBody>
      </p:sp>
    </p:spTree>
    <p:extLst>
      <p:ext uri="{BB962C8B-B14F-4D97-AF65-F5344CB8AC3E}">
        <p14:creationId xmlns:p14="http://schemas.microsoft.com/office/powerpoint/2010/main" val="1890376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2026-09-12T16:14:27.6120000Z</dcterms:created>
  <dcterms:modified xsi:type="dcterms:W3CDTF">2026-09-12T16:14:27.6120000Z</dcterms:modified>
</coreProperties>
</file>